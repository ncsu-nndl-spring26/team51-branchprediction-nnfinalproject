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4" r:id="rId5"/>
    <p:sldId id="259" r:id="rId6"/>
    <p:sldId id="262" r:id="rId7"/>
    <p:sldId id="261" r:id="rId8"/>
    <p:sldId id="260" r:id="rId9"/>
    <p:sldId id="263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10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13590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0" y="457200"/>
            <a:ext cx="109728" cy="109728"/>
          </a:xfrm>
          <a:prstGeom prst="ellipse">
            <a:avLst/>
          </a:prstGeom>
          <a:solidFill>
            <a:srgbClr val="0891B2">
              <a:alpha val="6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223760" y="457200"/>
            <a:ext cx="109728" cy="109728"/>
          </a:xfrm>
          <a:prstGeom prst="ellipse">
            <a:avLst/>
          </a:prstGeom>
          <a:solidFill>
            <a:srgbClr val="0891B2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046720" y="457200"/>
            <a:ext cx="109728" cy="109728"/>
          </a:xfrm>
          <a:prstGeom prst="ellipse">
            <a:avLst/>
          </a:prstGeom>
          <a:solidFill>
            <a:srgbClr val="0891B2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400800" y="1280160"/>
            <a:ext cx="109728" cy="109728"/>
          </a:xfrm>
          <a:prstGeom prst="ellipse">
            <a:avLst/>
          </a:prstGeom>
          <a:solidFill>
            <a:srgbClr val="0891B2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223760" y="1280160"/>
            <a:ext cx="109728" cy="109728"/>
          </a:xfrm>
          <a:prstGeom prst="ellipse">
            <a:avLst/>
          </a:prstGeom>
          <a:solidFill>
            <a:srgbClr val="0891B2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046720" y="1280160"/>
            <a:ext cx="109728" cy="109728"/>
          </a:xfrm>
          <a:prstGeom prst="ellipse">
            <a:avLst/>
          </a:prstGeom>
          <a:solidFill>
            <a:srgbClr val="0891B2">
              <a:alpha val="6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" y="640080"/>
            <a:ext cx="3291840" cy="411480"/>
          </a:xfrm>
          <a:prstGeom prst="roundRect">
            <a:avLst>
              <a:gd name="adj" fmla="val 22222"/>
            </a:avLst>
          </a:prstGeom>
          <a:solidFill>
            <a:srgbClr val="00C8FF">
              <a:alpha val="20000"/>
            </a:srgbClr>
          </a:solidFill>
          <a:ln w="19050">
            <a:solidFill>
              <a:srgbClr val="00C8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64008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00C8FF"/>
                </a:solidFill>
              </a:rPr>
              <a:t>NEURAL NETWORKS  |  ECE 542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1188720"/>
            <a:ext cx="5879592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Sequence Modeling for Advanced Microarchitectural Branch Prediction</a:t>
            </a:r>
            <a:endParaRPr lang="en-US" sz="3200" dirty="0"/>
          </a:p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502920" y="315468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i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ML Models Implementation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02920" y="3749040"/>
            <a:ext cx="5943600" cy="22860"/>
          </a:xfrm>
          <a:prstGeom prst="rect">
            <a:avLst/>
          </a:prstGeom>
          <a:solidFill>
            <a:srgbClr val="8899BB">
              <a:alpha val="5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Shreeya  </a:t>
            </a:r>
            <a:r>
              <a:rPr lang="en-US" sz="1300" dirty="0" err="1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Ranwadkar</a:t>
            </a:r>
            <a:r>
              <a:rPr lang="en-US" sz="13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Advika Metre     · Prajna Hassan Umesh </a:t>
            </a:r>
            <a:endParaRPr lang="en-US" sz="1300" dirty="0"/>
          </a:p>
          <a:p>
            <a:pPr marL="0" indent="0" algn="l">
              <a:buNone/>
            </a:pP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0" y="1097280"/>
            <a:ext cx="64008" cy="64008"/>
          </a:xfrm>
          <a:prstGeom prst="ellipse">
            <a:avLst/>
          </a:prstGeom>
          <a:solidFill>
            <a:srgbClr val="00C8FF">
              <a:alpha val="3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7223760" y="1097280"/>
            <a:ext cx="64008" cy="64008"/>
          </a:xfrm>
          <a:prstGeom prst="ellipse">
            <a:avLst/>
          </a:prstGeom>
          <a:solidFill>
            <a:srgbClr val="00C8FF">
              <a:alpha val="3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7589520" y="1097280"/>
            <a:ext cx="64008" cy="64008"/>
          </a:xfrm>
          <a:prstGeom prst="ellipse">
            <a:avLst/>
          </a:prstGeom>
          <a:solidFill>
            <a:srgbClr val="00C8FF">
              <a:alpha val="3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7955280" y="1097280"/>
            <a:ext cx="64008" cy="64008"/>
          </a:xfrm>
          <a:prstGeom prst="ellipse">
            <a:avLst/>
          </a:prstGeom>
          <a:solidFill>
            <a:srgbClr val="00C8FF">
              <a:alpha val="3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8321040" y="1097280"/>
            <a:ext cx="64008" cy="64008"/>
          </a:xfrm>
          <a:prstGeom prst="ellipse">
            <a:avLst/>
          </a:prstGeom>
          <a:solidFill>
            <a:srgbClr val="00C8FF">
              <a:alpha val="3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858000" y="1554480"/>
            <a:ext cx="64008" cy="64008"/>
          </a:xfrm>
          <a:prstGeom prst="ellipse">
            <a:avLst/>
          </a:prstGeom>
          <a:solidFill>
            <a:srgbClr val="00C8FF">
              <a:alpha val="3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7223760" y="1554480"/>
            <a:ext cx="64008" cy="64008"/>
          </a:xfrm>
          <a:prstGeom prst="ellipse">
            <a:avLst/>
          </a:prstGeom>
          <a:solidFill>
            <a:srgbClr val="00C8FF">
              <a:alpha val="3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7589520" y="1554480"/>
            <a:ext cx="64008" cy="64008"/>
          </a:xfrm>
          <a:prstGeom prst="ellipse">
            <a:avLst/>
          </a:prstGeom>
          <a:solidFill>
            <a:srgbClr val="00C8FF">
              <a:alpha val="3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7955280" y="1554480"/>
            <a:ext cx="64008" cy="64008"/>
          </a:xfrm>
          <a:prstGeom prst="ellipse">
            <a:avLst/>
          </a:prstGeom>
          <a:solidFill>
            <a:srgbClr val="00C8FF">
              <a:alpha val="3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8321040" y="1554480"/>
            <a:ext cx="64008" cy="64008"/>
          </a:xfrm>
          <a:prstGeom prst="ellipse">
            <a:avLst/>
          </a:prstGeom>
          <a:solidFill>
            <a:srgbClr val="00C8FF">
              <a:alpha val="3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6858000" y="2011680"/>
            <a:ext cx="64008" cy="64008"/>
          </a:xfrm>
          <a:prstGeom prst="ellipse">
            <a:avLst/>
          </a:prstGeom>
          <a:solidFill>
            <a:srgbClr val="00C8FF">
              <a:alpha val="3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7223760" y="2011680"/>
            <a:ext cx="64008" cy="64008"/>
          </a:xfrm>
          <a:prstGeom prst="ellipse">
            <a:avLst/>
          </a:prstGeom>
          <a:solidFill>
            <a:srgbClr val="00C8FF">
              <a:alpha val="3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7589520" y="2011680"/>
            <a:ext cx="64008" cy="64008"/>
          </a:xfrm>
          <a:prstGeom prst="ellipse">
            <a:avLst/>
          </a:prstGeom>
          <a:solidFill>
            <a:srgbClr val="00C8FF">
              <a:alpha val="3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7955280" y="2011680"/>
            <a:ext cx="64008" cy="64008"/>
          </a:xfrm>
          <a:prstGeom prst="ellipse">
            <a:avLst/>
          </a:prstGeom>
          <a:solidFill>
            <a:srgbClr val="00C8FF">
              <a:alpha val="3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8321040" y="2011680"/>
            <a:ext cx="64008" cy="64008"/>
          </a:xfrm>
          <a:prstGeom prst="ellipse">
            <a:avLst/>
          </a:prstGeom>
          <a:solidFill>
            <a:srgbClr val="00C8FF">
              <a:alpha val="3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858000" y="2468880"/>
            <a:ext cx="64008" cy="64008"/>
          </a:xfrm>
          <a:prstGeom prst="ellipse">
            <a:avLst/>
          </a:prstGeom>
          <a:solidFill>
            <a:srgbClr val="00C8FF">
              <a:alpha val="3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7223760" y="2468880"/>
            <a:ext cx="64008" cy="64008"/>
          </a:xfrm>
          <a:prstGeom prst="ellipse">
            <a:avLst/>
          </a:prstGeom>
          <a:solidFill>
            <a:srgbClr val="00C8FF">
              <a:alpha val="3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7589520" y="2468880"/>
            <a:ext cx="64008" cy="64008"/>
          </a:xfrm>
          <a:prstGeom prst="ellipse">
            <a:avLst/>
          </a:prstGeom>
          <a:solidFill>
            <a:srgbClr val="00C8FF">
              <a:alpha val="3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7955280" y="2468880"/>
            <a:ext cx="64008" cy="64008"/>
          </a:xfrm>
          <a:prstGeom prst="ellipse">
            <a:avLst/>
          </a:prstGeom>
          <a:solidFill>
            <a:srgbClr val="00C8FF">
              <a:alpha val="3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8321040" y="2468880"/>
            <a:ext cx="64008" cy="64008"/>
          </a:xfrm>
          <a:prstGeom prst="ellipse">
            <a:avLst/>
          </a:prstGeom>
          <a:solidFill>
            <a:srgbClr val="00C8FF">
              <a:alpha val="3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6858000" y="2926080"/>
            <a:ext cx="64008" cy="64008"/>
          </a:xfrm>
          <a:prstGeom prst="ellipse">
            <a:avLst/>
          </a:prstGeom>
          <a:solidFill>
            <a:srgbClr val="00C8FF">
              <a:alpha val="3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7223760" y="2926080"/>
            <a:ext cx="64008" cy="64008"/>
          </a:xfrm>
          <a:prstGeom prst="ellipse">
            <a:avLst/>
          </a:prstGeom>
          <a:solidFill>
            <a:srgbClr val="00C8FF">
              <a:alpha val="3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7589520" y="2926080"/>
            <a:ext cx="64008" cy="64008"/>
          </a:xfrm>
          <a:prstGeom prst="ellipse">
            <a:avLst/>
          </a:prstGeom>
          <a:solidFill>
            <a:srgbClr val="00C8FF">
              <a:alpha val="3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7955280" y="2926080"/>
            <a:ext cx="64008" cy="64008"/>
          </a:xfrm>
          <a:prstGeom prst="ellipse">
            <a:avLst/>
          </a:prstGeom>
          <a:solidFill>
            <a:srgbClr val="00C8FF">
              <a:alpha val="3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8321040" y="2926080"/>
            <a:ext cx="64008" cy="64008"/>
          </a:xfrm>
          <a:prstGeom prst="ellipse">
            <a:avLst/>
          </a:prstGeom>
          <a:solidFill>
            <a:srgbClr val="00C8FF">
              <a:alpha val="3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858000" y="3383280"/>
            <a:ext cx="64008" cy="64008"/>
          </a:xfrm>
          <a:prstGeom prst="ellipse">
            <a:avLst/>
          </a:prstGeom>
          <a:solidFill>
            <a:srgbClr val="00C8FF">
              <a:alpha val="3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7223760" y="3383280"/>
            <a:ext cx="64008" cy="64008"/>
          </a:xfrm>
          <a:prstGeom prst="ellipse">
            <a:avLst/>
          </a:prstGeom>
          <a:solidFill>
            <a:srgbClr val="00C8FF">
              <a:alpha val="3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7589520" y="3383280"/>
            <a:ext cx="64008" cy="64008"/>
          </a:xfrm>
          <a:prstGeom prst="ellipse">
            <a:avLst/>
          </a:prstGeom>
          <a:solidFill>
            <a:srgbClr val="00C8FF">
              <a:alpha val="30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7955280" y="3383280"/>
            <a:ext cx="64008" cy="64008"/>
          </a:xfrm>
          <a:prstGeom prst="ellipse">
            <a:avLst/>
          </a:prstGeom>
          <a:solidFill>
            <a:srgbClr val="00C8FF">
              <a:alpha val="30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8321040" y="3383280"/>
            <a:ext cx="64008" cy="64008"/>
          </a:xfrm>
          <a:prstGeom prst="ellipse">
            <a:avLst/>
          </a:prstGeom>
          <a:solidFill>
            <a:srgbClr val="00C8FF">
              <a:alpha val="30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858000" y="3840480"/>
            <a:ext cx="64008" cy="64008"/>
          </a:xfrm>
          <a:prstGeom prst="ellipse">
            <a:avLst/>
          </a:prstGeom>
          <a:solidFill>
            <a:srgbClr val="00C8FF">
              <a:alpha val="3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7223760" y="3840480"/>
            <a:ext cx="64008" cy="64008"/>
          </a:xfrm>
          <a:prstGeom prst="ellipse">
            <a:avLst/>
          </a:prstGeom>
          <a:solidFill>
            <a:srgbClr val="00C8FF">
              <a:alpha val="30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589520" y="3840480"/>
            <a:ext cx="64008" cy="64008"/>
          </a:xfrm>
          <a:prstGeom prst="ellipse">
            <a:avLst/>
          </a:prstGeom>
          <a:solidFill>
            <a:srgbClr val="00C8FF">
              <a:alpha val="30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955280" y="3840480"/>
            <a:ext cx="64008" cy="64008"/>
          </a:xfrm>
          <a:prstGeom prst="ellipse">
            <a:avLst/>
          </a:prstGeom>
          <a:solidFill>
            <a:srgbClr val="00C8FF">
              <a:alpha val="30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8321040" y="3840480"/>
            <a:ext cx="64008" cy="64008"/>
          </a:xfrm>
          <a:prstGeom prst="ellipse">
            <a:avLst/>
          </a:prstGeom>
          <a:solidFill>
            <a:srgbClr val="00C8FF">
              <a:alpha val="30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6858000" y="4297680"/>
            <a:ext cx="64008" cy="64008"/>
          </a:xfrm>
          <a:prstGeom prst="ellipse">
            <a:avLst/>
          </a:prstGeom>
          <a:solidFill>
            <a:srgbClr val="00C8FF">
              <a:alpha val="30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223760" y="4297680"/>
            <a:ext cx="64008" cy="64008"/>
          </a:xfrm>
          <a:prstGeom prst="ellipse">
            <a:avLst/>
          </a:prstGeom>
          <a:solidFill>
            <a:srgbClr val="00C8FF">
              <a:alpha val="30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7589520" y="4297680"/>
            <a:ext cx="64008" cy="64008"/>
          </a:xfrm>
          <a:prstGeom prst="ellipse">
            <a:avLst/>
          </a:prstGeom>
          <a:solidFill>
            <a:srgbClr val="00C8FF">
              <a:alpha val="30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7955280" y="4297680"/>
            <a:ext cx="64008" cy="64008"/>
          </a:xfrm>
          <a:prstGeom prst="ellipse">
            <a:avLst/>
          </a:prstGeom>
          <a:solidFill>
            <a:srgbClr val="00C8FF">
              <a:alpha val="30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321040" y="4297680"/>
            <a:ext cx="64008" cy="64008"/>
          </a:xfrm>
          <a:prstGeom prst="ellipse">
            <a:avLst/>
          </a:prstGeom>
          <a:solidFill>
            <a:srgbClr val="00C8FF">
              <a:alpha val="30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00C8FF"/>
                </a:solidFill>
              </a:rPr>
              <a:t>MOTIVATION &amp; PROBLEM STATEMENT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Branch Prediction Matter?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2651760" cy="1463040"/>
          </a:xfrm>
          <a:prstGeom prst="rect">
            <a:avLst/>
          </a:prstGeom>
          <a:solidFill>
            <a:srgbClr val="162645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554480"/>
            <a:ext cx="2651760" cy="64008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69164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15–20%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65760" y="237744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instructions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branches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91840" y="1554480"/>
            <a:ext cx="2651760" cy="1463040"/>
          </a:xfrm>
          <a:prstGeom prst="rect">
            <a:avLst/>
          </a:prstGeom>
          <a:solidFill>
            <a:srgbClr val="162645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554480"/>
            <a:ext cx="2651760" cy="64008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169164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~30%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291840" y="237744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total CPU cycles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wasted on mispredictions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1554480"/>
            <a:ext cx="2651760" cy="1463040"/>
          </a:xfrm>
          <a:prstGeom prst="rect">
            <a:avLst/>
          </a:prstGeom>
          <a:solidFill>
            <a:srgbClr val="162645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1554480"/>
            <a:ext cx="2651760" cy="6400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169164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 cycles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217920" y="237744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penalty per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mispredicted branch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3200400"/>
            <a:ext cx="8412480" cy="1554480"/>
          </a:xfrm>
          <a:prstGeom prst="rect">
            <a:avLst/>
          </a:prstGeom>
          <a:solidFill>
            <a:srgbClr val="0A1628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200400"/>
            <a:ext cx="91440" cy="155448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3291840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94360" y="365760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CPUs rely on branch predictors to speculatively execute instructions. Incorrect predictions stall the pipeline and degrade performance. Traditional predictors (bimodal, gshare) use fixed heuristics. We ask: can machine learning models learn branch behavior from historical traces and outperform a trivial always-predict baseline?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00C8FF"/>
                </a:solidFill>
              </a:rPr>
              <a:t>BACKGROUND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Branch Prediction Works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463040"/>
            <a:ext cx="1828800" cy="1005840"/>
          </a:xfrm>
          <a:prstGeom prst="rect">
            <a:avLst/>
          </a:prstGeom>
          <a:solidFill>
            <a:srgbClr val="00A896">
              <a:alpha val="25000"/>
            </a:srgbClr>
          </a:solidFill>
          <a:ln w="2540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5087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A896"/>
                </a:solidFill>
              </a:rPr>
              <a:t>Fetch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74320" y="19659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AF4"/>
                </a:solidFill>
              </a:rPr>
              <a:t>PC address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148840" y="1920240"/>
            <a:ext cx="228600" cy="45720"/>
          </a:xfrm>
          <a:prstGeom prst="rect">
            <a:avLst/>
          </a:prstGeom>
          <a:solidFill>
            <a:srgbClr val="8899BB"/>
          </a:solidFill>
          <a:ln/>
        </p:spPr>
      </p:sp>
      <p:sp>
        <p:nvSpPr>
          <p:cNvPr id="9" name="Shape 7"/>
          <p:cNvSpPr/>
          <p:nvPr/>
        </p:nvSpPr>
        <p:spPr>
          <a:xfrm>
            <a:off x="2423160" y="1463040"/>
            <a:ext cx="1828800" cy="1005840"/>
          </a:xfrm>
          <a:prstGeom prst="rect">
            <a:avLst/>
          </a:prstGeom>
          <a:solidFill>
            <a:srgbClr val="00C8FF">
              <a:alpha val="25000"/>
            </a:srgbClr>
          </a:solidFill>
          <a:ln w="25400">
            <a:solidFill>
              <a:srgbClr val="00C8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23160" y="15087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8FF"/>
                </a:solidFill>
              </a:rPr>
              <a:t>Predict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423160" y="19659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AF4"/>
                </a:solidFill>
              </a:rPr>
              <a:t>Taken / Not Taken?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97680" y="1920240"/>
            <a:ext cx="228600" cy="45720"/>
          </a:xfrm>
          <a:prstGeom prst="rect">
            <a:avLst/>
          </a:prstGeom>
          <a:solidFill>
            <a:srgbClr val="8899BB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0" y="1463040"/>
            <a:ext cx="1828800" cy="1005840"/>
          </a:xfrm>
          <a:prstGeom prst="rect">
            <a:avLst/>
          </a:prstGeom>
          <a:solidFill>
            <a:srgbClr val="FFD166">
              <a:alpha val="25000"/>
            </a:srgbClr>
          </a:solidFill>
          <a:ln w="25400">
            <a:solidFill>
              <a:srgbClr val="FFD16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0" y="15087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166"/>
                </a:solidFill>
              </a:rPr>
              <a:t>Execute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0" y="19659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AF4"/>
                </a:solidFill>
              </a:rPr>
              <a:t>Evaluate branch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46520" y="1920240"/>
            <a:ext cx="228600" cy="45720"/>
          </a:xfrm>
          <a:prstGeom prst="rect">
            <a:avLst/>
          </a:prstGeom>
          <a:solidFill>
            <a:srgbClr val="8899BB"/>
          </a:solidFill>
          <a:ln/>
        </p:spPr>
      </p:sp>
      <p:sp>
        <p:nvSpPr>
          <p:cNvPr id="17" name="Shape 15"/>
          <p:cNvSpPr/>
          <p:nvPr/>
        </p:nvSpPr>
        <p:spPr>
          <a:xfrm>
            <a:off x="6720840" y="1463040"/>
            <a:ext cx="1828800" cy="1005840"/>
          </a:xfrm>
          <a:prstGeom prst="rect">
            <a:avLst/>
          </a:prstGeom>
          <a:solidFill>
            <a:srgbClr val="FF6B35">
              <a:alpha val="25000"/>
            </a:srgbClr>
          </a:solidFill>
          <a:ln w="25400">
            <a:solidFill>
              <a:srgbClr val="FF6B35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720840" y="15087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6B35"/>
                </a:solidFill>
              </a:rPr>
              <a:t>Commit/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6B35"/>
                </a:solidFill>
              </a:rPr>
              <a:t>Flush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720840" y="19659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AF4"/>
                </a:solidFill>
              </a:rPr>
              <a:t>Correct or penalize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2651760"/>
            <a:ext cx="4114800" cy="2148840"/>
          </a:xfrm>
          <a:prstGeom prst="rect">
            <a:avLst/>
          </a:prstGeom>
          <a:solidFill>
            <a:srgbClr val="162645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2651760"/>
            <a:ext cx="4114800" cy="54864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2724912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Taken (label = 1)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02920" y="318211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jumps to target address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02920" y="363931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back-edges, if-conditions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02920" y="409651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must flush if wrong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754880" y="2651760"/>
            <a:ext cx="4114800" cy="2148840"/>
          </a:xfrm>
          <a:prstGeom prst="rect">
            <a:avLst/>
          </a:prstGeom>
          <a:solidFill>
            <a:srgbClr val="162645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2651760"/>
            <a:ext cx="4114800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8" name="Text 26"/>
          <p:cNvSpPr/>
          <p:nvPr/>
        </p:nvSpPr>
        <p:spPr>
          <a:xfrm>
            <a:off x="4754880" y="2724912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Not-Taken (label = 0)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892040" y="318211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falls through sequentially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892040" y="363931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Straight-line code continues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892040" y="409651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~51% of gcc trace branches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00C8FF"/>
                </a:solidFill>
              </a:rPr>
              <a:t>PRIOR WORK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Work by Team Members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8412480" cy="2286000"/>
          </a:xfrm>
          <a:prstGeom prst="rect">
            <a:avLst/>
          </a:prstGeom>
          <a:solidFill>
            <a:srgbClr val="162645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63040"/>
            <a:ext cx="109728" cy="228600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1572768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Predictor Simulator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21792" y="193167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Modeled Bimodal, Gshare, and Hybrid branch predictors with 2-bit Smith counters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over 0.2 million branch traces to evaluate predictor behavior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Analyzed prediction accuracy by adjusting simulator parameters (history bits, table sizes)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3931920"/>
            <a:ext cx="8412480" cy="914400"/>
          </a:xfrm>
          <a:prstGeom prst="rect">
            <a:avLst/>
          </a:prstGeom>
          <a:solidFill>
            <a:srgbClr val="0A1628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3931920"/>
            <a:ext cx="109728" cy="91440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" y="4005072"/>
            <a:ext cx="78638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prior work established the hardware context for this project: understanding how classical predictors like Bimodal and Gshare work — using fixed-width counters and history registers — directly informed the feature design (PC history + outcome history) used in our ML models.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00C8FF"/>
                </a:solidFill>
              </a:rPr>
              <a:t>DATASET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gcc_trace — Prior Coursework Dataset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5029200" cy="1417320"/>
          </a:xfrm>
          <a:prstGeom prst="rect">
            <a:avLst/>
          </a:prstGeom>
          <a:solidFill>
            <a:srgbClr val="162645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17320"/>
            <a:ext cx="91440" cy="141732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490472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810512"/>
            <a:ext cx="4389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trace dataset from prior coursework (ECE 563)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as part of a branch predictor simulation project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2926080"/>
            <a:ext cx="5029200" cy="1920240"/>
          </a:xfrm>
          <a:prstGeom prst="rect">
            <a:avLst/>
          </a:prstGeom>
          <a:solidFill>
            <a:srgbClr val="162645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926080"/>
            <a:ext cx="91440" cy="192024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999232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Format &amp; Encoding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3337560"/>
            <a:ext cx="43891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entry contains: Program Counter (PC) address + branch outcome (t = taken, n = not taken)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converted to binary: taken → 1, not taken → 0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trace preserves execution order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model real program control-flow behavior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23560" y="1417320"/>
            <a:ext cx="1554480" cy="1645920"/>
          </a:xfrm>
          <a:prstGeom prst="rect">
            <a:avLst/>
          </a:prstGeom>
          <a:solidFill>
            <a:srgbClr val="0A1628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623560" y="1417320"/>
            <a:ext cx="1554480" cy="54864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15" name="Text 13"/>
          <p:cNvSpPr/>
          <p:nvPr/>
        </p:nvSpPr>
        <p:spPr>
          <a:xfrm>
            <a:off x="5623560" y="1527048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500,000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623560" y="210312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Branches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623560" y="2441448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500k used (temporal order)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315200" y="1417320"/>
            <a:ext cx="1554480" cy="1645920"/>
          </a:xfrm>
          <a:prstGeom prst="rect">
            <a:avLst/>
          </a:prstGeom>
          <a:solidFill>
            <a:srgbClr val="0A1628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315200" y="1417320"/>
            <a:ext cx="1554480" cy="54864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0" y="1527048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/ 20%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315200" y="210312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Split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315200" y="2441448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shuffle — preserves time order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623560" y="3246120"/>
            <a:ext cx="1554480" cy="1645920"/>
          </a:xfrm>
          <a:prstGeom prst="rect">
            <a:avLst/>
          </a:prstGeom>
          <a:solidFill>
            <a:srgbClr val="0A1628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623560" y="3246120"/>
            <a:ext cx="1554480" cy="54864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25" name="Text 23"/>
          <p:cNvSpPr/>
          <p:nvPr/>
        </p:nvSpPr>
        <p:spPr>
          <a:xfrm>
            <a:off x="5623560" y="3355848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57.3%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623560" y="393192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Taken (label=1)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623560" y="4270248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 class in training set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315200" y="3246120"/>
            <a:ext cx="1554480" cy="1645920"/>
          </a:xfrm>
          <a:prstGeom prst="rect">
            <a:avLst/>
          </a:prstGeom>
          <a:solidFill>
            <a:srgbClr val="0A1628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315200" y="3246120"/>
            <a:ext cx="1554480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0" y="3355848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42.7%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7315200" y="393192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Not-Taken (label=0)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315200" y="4270248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Minority class in training set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00C8FF"/>
                </a:solidFill>
              </a:rPr>
              <a:t>BASELINE &amp; METRICS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Trivial Baseline + Evaluation Metrics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4114800" cy="3337560"/>
          </a:xfrm>
          <a:prstGeom prst="rect">
            <a:avLst/>
          </a:prstGeom>
          <a:solidFill>
            <a:srgbClr val="162645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63040"/>
            <a:ext cx="91440" cy="33375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55448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Trivial Baseline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196596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predicts the majority class from training. Train set has 57.3% Taken — so trivial predictor always predicts Taken.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4360" y="2743200"/>
            <a:ext cx="3657600" cy="502920"/>
          </a:xfrm>
          <a:prstGeom prst="rect">
            <a:avLst/>
          </a:prstGeom>
          <a:solidFill>
            <a:srgbClr val="0A1628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7432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6B35"/>
                </a:solidFill>
              </a:rPr>
              <a:t>Accuracy: 51.48%   ·   Misprediction: 48.52%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3310128"/>
            <a:ext cx="37490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floor — any useful ML model must beat this. It represents zero learning: no history, no patterns, pure majority vote.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1463040"/>
            <a:ext cx="4114800" cy="3337560"/>
          </a:xfrm>
          <a:prstGeom prst="rect">
            <a:avLst/>
          </a:prstGeom>
          <a:solidFill>
            <a:srgbClr val="162645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463040"/>
            <a:ext cx="91440" cy="333756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14" name="Text 12"/>
          <p:cNvSpPr/>
          <p:nvPr/>
        </p:nvSpPr>
        <p:spPr>
          <a:xfrm>
            <a:off x="4892040" y="155448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92040" y="201168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Misprediction Rate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92040" y="226771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(1 − Acc) × 100. Primary metric. Maps to CPU pipeline stalls.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92040" y="271576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92040" y="297180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 of branches correctly predicted overall.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892040" y="341985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92040" y="367588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/ (TP+FP). Of predicted Taken, how many were actually Taken?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92040" y="412394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92040" y="4379976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/ (TP+FN). Of actual Taken branches, how many did we catch?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903720" y="201168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903720" y="226771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Harmonic mean of Precision and Recall. Balances both.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903720" y="271576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903720" y="297180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 / FP / FN / TP breakdown — reveals bias toward Taken class.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903720" y="341985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Footprint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903720" y="367588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weights (LR) or tree nodes (DT/RF). Hardware budget proxy.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903720" y="412394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Time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903720" y="4379976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Wall-clock seconds. Reflects model complexity at scale.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00C8FF"/>
                </a:solidFill>
              </a:rPr>
              <a:t>BASELINE MODELS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Classical ML Approaches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2788920" cy="3429000"/>
          </a:xfrm>
          <a:prstGeom prst="rect">
            <a:avLst/>
          </a:prstGeom>
          <a:solidFill>
            <a:srgbClr val="162645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417320"/>
            <a:ext cx="2788920" cy="64008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50876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993392"/>
            <a:ext cx="2148840" cy="320040"/>
          </a:xfrm>
          <a:prstGeom prst="roundRect">
            <a:avLst>
              <a:gd name="adj" fmla="val 22857"/>
            </a:avLst>
          </a:prstGeom>
          <a:solidFill>
            <a:srgbClr val="00C8FF">
              <a:alpha val="20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993392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8FF"/>
                </a:solidFill>
              </a:rPr>
              <a:t>65 parameters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37744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Config: solver=saga, C=1.0, max_iter=300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274320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a linear decision boundary in the 64-dimensional feature space. Assigns a probability to the 'Taken' class using a sigmoid function.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3703320"/>
            <a:ext cx="26060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Extremely lightweight — closest to hardware-deployable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65760" y="4041648"/>
            <a:ext cx="26060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Cannot model non-linear branch patterns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18688" y="1417320"/>
            <a:ext cx="2788920" cy="3429000"/>
          </a:xfrm>
          <a:prstGeom prst="rect">
            <a:avLst/>
          </a:prstGeom>
          <a:solidFill>
            <a:srgbClr val="162645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18688" y="1417320"/>
            <a:ext cx="2788920" cy="64008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16" name="Text 14"/>
          <p:cNvSpPr/>
          <p:nvPr/>
        </p:nvSpPr>
        <p:spPr>
          <a:xfrm>
            <a:off x="3310128" y="150876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538728" y="1993392"/>
            <a:ext cx="2148840" cy="320040"/>
          </a:xfrm>
          <a:prstGeom prst="roundRect">
            <a:avLst>
              <a:gd name="adj" fmla="val 22857"/>
            </a:avLst>
          </a:prstGeom>
          <a:solidFill>
            <a:srgbClr val="FFD166">
              <a:alpha val="2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38728" y="1993392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D166"/>
                </a:solidFill>
              </a:rPr>
              <a:t>5,119 nodes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10128" y="237744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Config: max_depth=15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10128" y="274320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Recursively splits feature space on thresholds. Each path from root to leaf is a prediction rule based on PC history and branch outcomes.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10128" y="3703320"/>
            <a:ext cx="26060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Interpretable — rules can be inspected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310128" y="4041648"/>
            <a:ext cx="26060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Prone to overfitting; single tree is brittle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163056" y="1417320"/>
            <a:ext cx="2788920" cy="3429000"/>
          </a:xfrm>
          <a:prstGeom prst="rect">
            <a:avLst/>
          </a:prstGeom>
          <a:solidFill>
            <a:srgbClr val="162645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63056" y="1417320"/>
            <a:ext cx="2788920" cy="64008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25" name="Text 23"/>
          <p:cNvSpPr/>
          <p:nvPr/>
        </p:nvSpPr>
        <p:spPr>
          <a:xfrm>
            <a:off x="6254496" y="150876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483096" y="1993392"/>
            <a:ext cx="2148840" cy="320040"/>
          </a:xfrm>
          <a:prstGeom prst="roundRect">
            <a:avLst>
              <a:gd name="adj" fmla="val 22857"/>
            </a:avLst>
          </a:prstGeom>
          <a:solidFill>
            <a:srgbClr val="06D6A0">
              <a:alpha val="20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83096" y="1993392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D6A0"/>
                </a:solidFill>
              </a:rPr>
              <a:t>666,102 nodes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54496" y="237744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Config: 100 trees, max_depth=15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54496" y="274320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of 100 decision trees. Each tree sees a random subset of features. Final prediction is a majority vote across all trees.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54496" y="3703320"/>
            <a:ext cx="26060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Best accuracy — captures complex patterns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254496" y="4041648"/>
            <a:ext cx="26060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Very large parameter footprint; slow (74s)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00C8FF"/>
                </a:solidFill>
              </a:rPr>
              <a:t>OUTPUT</a:t>
            </a:r>
            <a:endParaRPr lang="en-US" sz="11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05653C2-3EB9-0755-6616-2912237D604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3539"/>
          <a:stretch>
            <a:fillRect/>
          </a:stretch>
        </p:blipFill>
        <p:spPr>
          <a:xfrm>
            <a:off x="6052939" y="1157159"/>
            <a:ext cx="2806053" cy="350607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E4C0E80-D4AE-DDC2-BBEB-AEC7F818D38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2614"/>
          <a:stretch>
            <a:fillRect/>
          </a:stretch>
        </p:blipFill>
        <p:spPr>
          <a:xfrm>
            <a:off x="3216746" y="1157159"/>
            <a:ext cx="2506008" cy="350607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A611F546-7FFD-24BC-002C-C6FF2FC4977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23292"/>
          <a:stretch>
            <a:fillRect/>
          </a:stretch>
        </p:blipFill>
        <p:spPr>
          <a:xfrm>
            <a:off x="285008" y="1157159"/>
            <a:ext cx="2601554" cy="35060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00C8FF"/>
                </a:solidFill>
              </a:rPr>
              <a:t>RESULTS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Summary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463040"/>
          <a:ext cx="8412480" cy="210312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6350" cap="flat" cmpd="sng" algn="ctr">
                      <a:solidFill>
                        <a:srgbClr val="2A3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6350" cap="flat" cmpd="sng" algn="ctr">
                      <a:solidFill>
                        <a:srgbClr val="2A3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Mispred. Rate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6350" cap="flat" cmpd="sng" algn="ctr">
                      <a:solidFill>
                        <a:srgbClr val="2A3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 Params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6350" cap="flat" cmpd="sng" algn="ctr">
                      <a:solidFill>
                        <a:srgbClr val="2A3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Time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6350" cap="flat" cmpd="sng" algn="ctr">
                      <a:solidFill>
                        <a:srgbClr val="2A3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F6B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Trivial Baseline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6350" cap="flat" cmpd="sng" algn="ctr">
                      <a:solidFill>
                        <a:srgbClr val="2A3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6B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51.48%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6350" cap="flat" cmpd="sng" algn="ctr">
                      <a:solidFill>
                        <a:srgbClr val="2A3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6B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48.52%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6350" cap="flat" cmpd="sng" algn="ctr">
                      <a:solidFill>
                        <a:srgbClr val="2A3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8888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6350" cap="flat" cmpd="sng" algn="ctr">
                      <a:solidFill>
                        <a:srgbClr val="2A3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8888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6350" cap="flat" cmpd="sng" algn="ctr">
                      <a:solidFill>
                        <a:srgbClr val="2A3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C8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6350" cap="flat" cmpd="sng" algn="ctr">
                      <a:solidFill>
                        <a:srgbClr val="2A3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57.80%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6350" cap="flat" cmpd="sng" algn="ctr">
                      <a:solidFill>
                        <a:srgbClr val="2A3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C8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42.20%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6350" cap="flat" cmpd="sng" algn="ctr">
                      <a:solidFill>
                        <a:srgbClr val="2A3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6350" cap="flat" cmpd="sng" algn="ctr">
                      <a:solidFill>
                        <a:srgbClr val="2A3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24.2s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6350" cap="flat" cmpd="sng" algn="ctr">
                      <a:solidFill>
                        <a:srgbClr val="2A3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FD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6350" cap="flat" cmpd="sng" algn="ctr">
                      <a:solidFill>
                        <a:srgbClr val="2A3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65.60%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6350" cap="flat" cmpd="sng" algn="ctr">
                      <a:solidFill>
                        <a:srgbClr val="2A3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D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34.40%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6350" cap="flat" cmpd="sng" algn="ctr">
                      <a:solidFill>
                        <a:srgbClr val="2A3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5,119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6350" cap="flat" cmpd="sng" algn="ctr">
                      <a:solidFill>
                        <a:srgbClr val="2A3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20.9s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6350" cap="flat" cmpd="sng" algn="ctr">
                      <a:solidFill>
                        <a:srgbClr val="2A3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  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6350" cap="flat" cmpd="sng" algn="ctr">
                      <a:solidFill>
                        <a:srgbClr val="2A3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67.85%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6350" cap="flat" cmpd="sng" algn="ctr">
                      <a:solidFill>
                        <a:srgbClr val="2A3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32.15%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6350" cap="flat" cmpd="sng" algn="ctr">
                      <a:solidFill>
                        <a:srgbClr val="2A3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6B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666,102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6350" cap="flat" cmpd="sng" algn="ctr">
                      <a:solidFill>
                        <a:srgbClr val="2A3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6B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55.7s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6350" cap="flat" cmpd="sng" algn="ctr">
                      <a:solidFill>
                        <a:srgbClr val="2A3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368503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Reports (from actual run)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65760" y="4005072"/>
            <a:ext cx="2724912" cy="1051560"/>
          </a:xfrm>
          <a:prstGeom prst="rect">
            <a:avLst/>
          </a:prstGeom>
          <a:solidFill>
            <a:srgbClr val="0A1628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" y="4005072"/>
            <a:ext cx="2724912" cy="54864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5" name="Text 6"/>
          <p:cNvSpPr/>
          <p:nvPr/>
        </p:nvSpPr>
        <p:spPr>
          <a:xfrm>
            <a:off x="457200" y="4069080"/>
            <a:ext cx="2542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57200" y="4325112"/>
            <a:ext cx="25420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Not-Taken  P:0.58  R:0.50  F1:0.53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457200" y="4553712"/>
            <a:ext cx="25420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Taken      P:0.58  R:0.65  F1:0.61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57200" y="4773168"/>
            <a:ext cx="2542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TN=24,117  FP=24,403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FN=17,798  TP=33,676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264408" y="4005072"/>
            <a:ext cx="2724912" cy="1051560"/>
          </a:xfrm>
          <a:prstGeom prst="rect">
            <a:avLst/>
          </a:prstGeom>
          <a:solidFill>
            <a:srgbClr val="0A1628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64408" y="4005072"/>
            <a:ext cx="2724912" cy="54864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15" name="Text 12"/>
          <p:cNvSpPr/>
          <p:nvPr/>
        </p:nvSpPr>
        <p:spPr>
          <a:xfrm>
            <a:off x="3355848" y="4069080"/>
            <a:ext cx="2542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3355848" y="4325112"/>
            <a:ext cx="25420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Not-Taken  P:0.68  R:0.54  F1:0.60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3355848" y="4553712"/>
            <a:ext cx="25420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Taken      P:0.64  R:0.76  F1:0.70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3355848" y="4773168"/>
            <a:ext cx="2542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TN=26,221  FP=22,299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FN=12,100  TP=39,374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6163056" y="4005072"/>
            <a:ext cx="2724912" cy="1051560"/>
          </a:xfrm>
          <a:prstGeom prst="rect">
            <a:avLst/>
          </a:prstGeom>
          <a:solidFill>
            <a:srgbClr val="0A1628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163056" y="4005072"/>
            <a:ext cx="2724912" cy="54864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21" name="Text 18"/>
          <p:cNvSpPr/>
          <p:nvPr/>
        </p:nvSpPr>
        <p:spPr>
          <a:xfrm>
            <a:off x="6254496" y="4069080"/>
            <a:ext cx="2542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6254496" y="4325112"/>
            <a:ext cx="25420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Not-Taken  P:0.75  R:0.50  F1:0.60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6254496" y="4553712"/>
            <a:ext cx="25420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Taken      P:0.64  R:0.85  F1:0.73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6254496" y="4773168"/>
            <a:ext cx="2542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TN=24,280  FP=24,240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FN=7,909   TP=43,565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00C8FF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 Extensions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4114800" cy="3337560"/>
          </a:xfrm>
          <a:prstGeom prst="rect">
            <a:avLst/>
          </a:prstGeom>
          <a:solidFill>
            <a:srgbClr val="162645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63040"/>
            <a:ext cx="4114800" cy="73152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57276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02920" y="202996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Short-Term Memory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42316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sequential data — ideal for branch histories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2920" y="297180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Remembers long-range correlations across hundreds of branches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35204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state acts as a learned branch history register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02920" y="40690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Expected: significantly lower misprediction rate vs. RF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754880" y="1463040"/>
            <a:ext cx="4114800" cy="3337560"/>
          </a:xfrm>
          <a:prstGeom prst="rect">
            <a:avLst/>
          </a:prstGeom>
          <a:solidFill>
            <a:srgbClr val="162645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463040"/>
            <a:ext cx="4114800" cy="73152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15" name="Text 13"/>
          <p:cNvSpPr/>
          <p:nvPr/>
        </p:nvSpPr>
        <p:spPr>
          <a:xfrm>
            <a:off x="4892040" y="157276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892040" y="202996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Multi-Layer Perceptron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92040" y="242316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connected deep network on the same 64-feature input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892040" y="297180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hidden layers capture non-linear branch interactions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892040" y="35204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to train than LSTM; good accuracy-cost tradeoff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892040" y="40690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quantized for approximate hardware deployment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00C8FF"/>
                </a:solidFill>
              </a:rPr>
              <a:t>REFERENCES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8412480" cy="1828800"/>
          </a:xfrm>
          <a:prstGeom prst="rect">
            <a:avLst/>
          </a:prstGeom>
          <a:solidFill>
            <a:srgbClr val="162645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6" name="Text 4"/>
          <p:cNvSpPr/>
          <p:nvPr/>
        </p:nvSpPr>
        <p:spPr>
          <a:xfrm>
            <a:off x="594360" y="1600200"/>
            <a:ext cx="7955280" cy="15348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gcc_trace Dataset — Branch trace from prior coursework (ECE 563), NC State ECE.</a:t>
            </a:r>
            <a:endParaRPr lang="en-US" sz="1300" dirty="0"/>
          </a:p>
          <a:p>
            <a:r>
              <a:rPr lang="en-US" sz="13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as part of a branch predictor simulation project. Used with permission.</a:t>
            </a:r>
            <a:br>
              <a:rPr lang="en-US" sz="13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3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Jiménez, D. A., &amp; Lin, C. (2001). Dynamic branch prediction with </a:t>
            </a:r>
            <a:r>
              <a:rPr lang="en-US" sz="1300" dirty="0" err="1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perceptrons</a:t>
            </a:r>
            <a:r>
              <a:rPr lang="en-US" sz="13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Proceedings HPCA Seventh International Symposium on High-Performance Computer Architecture. </a:t>
            </a:r>
            <a:br>
              <a:rPr lang="en-US" sz="13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3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</a:t>
            </a:r>
            <a:r>
              <a:rPr lang="en-US" sz="1300" dirty="0" err="1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Elbtity</a:t>
            </a:r>
            <a:r>
              <a:rPr lang="en-US" sz="13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M. B. E., et al. (2023). An LSTM-based Branch Predictor for Modern Microprocessors. IEEE International Symposium on Circuits and Systems (ISCAS)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1101</Words>
  <Application>Microsoft Office PowerPoint</Application>
  <PresentationFormat>On-screen Show (16:9)</PresentationFormat>
  <Paragraphs>181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ML-Based Branch Prediction</dc:title>
  <dc:subject>PptxGenJS Presentation</dc:subject>
  <dc:creator>PptxGenJS</dc:creator>
  <cp:lastModifiedBy>Advika Metre</cp:lastModifiedBy>
  <cp:revision>2</cp:revision>
  <dcterms:created xsi:type="dcterms:W3CDTF">2026-04-09T19:58:13Z</dcterms:created>
  <dcterms:modified xsi:type="dcterms:W3CDTF">2026-04-09T20:10:19Z</dcterms:modified>
</cp:coreProperties>
</file>